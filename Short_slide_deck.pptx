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8" autoAdjust="0"/>
    <p:restoredTop sz="94660"/>
  </p:normalViewPr>
  <p:slideViewPr>
    <p:cSldViewPr snapToGrid="0">
      <p:cViewPr>
        <p:scale>
          <a:sx n="75" d="100"/>
          <a:sy n="75" d="100"/>
        </p:scale>
        <p:origin x="7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293BC-6196-4B42-BA8C-542E7237C4E6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60D90-52AD-4B65-A2C6-34EA0090F0D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8155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55018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FCEEF-E8D8-3083-6B95-1DF0EECA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6BAD385-1ECD-F065-DF32-7F20AAD9D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2878399-4D3A-FDA9-765F-DB625DA69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E926310-C365-6530-040C-2C955C73F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24040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089A-04BD-3921-4641-3C685C43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CE4B24D-D7CF-24B8-5518-E15C3AF8A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EA393A3-801A-1FB4-AC80-B3B3A5F43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543FF97-DAE2-EE0E-1C0E-DDEAD0149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79002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F78C4-0185-D3CF-2E64-828090150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477EADC-6E39-BFBA-70D4-E6506A41E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F20805A-15B9-85F4-7FFC-5BD0E5FB0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6C554EC-A117-441F-7F00-9CABE4838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8894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3F83-0291-9BD4-B47D-0F6925E6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A0188B5-BDC3-D55B-F837-36C5908CA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50DE5B4-84AC-03EC-1C91-A8AA8F238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44DE149-57C7-3286-1502-50C6A17EC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64584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3A4F-FC37-E4DF-2EB1-74FBAE36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3832DAC-D297-C35D-6D76-D1E6F83D2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4F2880E-FCD2-C797-4C33-961EA27FD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C507AF5-2F1A-A9F3-F411-FCA9AFCE0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54859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FD66-5A39-ED12-4E83-D841CE22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CFD25D1-F46D-7666-83B1-45CCA1203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A5121C7-DC9A-FE35-DBBE-556DF94DB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350B158-FA4B-BE2E-A17B-298557D38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23359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AB00-B0B4-D86F-3C5D-A76789DC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D84D79F-EF84-B46F-3F8F-C023BE7A8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C75BC1A-B25B-30E1-5C8B-9A369418B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B6C5071-1B8F-3C4C-AFA1-C2D924B8B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36381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FD0D-ADD2-DFC7-8E6B-FF4697EB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98723A1-0DA8-CB5C-AA58-9E3F12DB6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0FBD530-7198-296A-A84C-6207DB156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D8B603A-4029-0362-A219-70FA13D1A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6799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F54B-6921-3CD7-860F-0E79C43B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07E3067-279D-0EDA-04BC-519E05A94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EACA48C-2461-38B1-7D6D-D7DD2D34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84FAED8-E27F-0547-9946-9BAA15EAF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5076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2C1C-A07B-F259-A34E-6CC30951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1052513-6063-56F8-D26B-24B616B49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7DEA446-E8C6-818A-E8C7-FDD80E1B1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D8108AB-DE5E-AD2C-2F0D-FAB7A06FE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84983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9306-ACCF-B4E8-354D-542F493A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834B6F6-396C-34C0-D20A-FA30EEC83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5F8FABB-DA32-024D-2F2E-5BFB0B077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F84C626-A384-31E1-B52C-E25FF63C3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31209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4EBAD-66FD-F294-2F94-C99C9DFE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4D48877-ED99-0B25-C15C-2DAE5FBCA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8D9F416-C24F-90FE-7DAD-F750F1963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F619F91-5240-EB6B-59A3-AE10FA7D0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4423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688E-5407-5FEF-C4F2-54473B33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DF3E97A-2BE9-D01B-EF81-AAA24F9EA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43F6A26-EAAB-29F8-8CE1-048D324EC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9FA2366-0F6F-24CB-01A2-1E3FA0692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15592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6E8E-BD38-530D-4192-B36014991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CEC6DE9-A49B-5A67-C803-E15AA542E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5AADD07-11B2-5821-5E63-C333E4402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029EA3C-E869-AB00-B8A3-0761ABA7D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42780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A25A-DB50-E553-23D7-AC1233541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28F50BB-3BC5-BB49-6FA6-961CFF5F2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6415374-85DC-D6BD-6362-4D851063A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6323183-EE33-E0DD-F96D-4B4BDDEC2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07666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3F77-B6C4-DDF1-24BD-C9761F55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B3484D5-6907-B3AB-A41A-C4BDB3466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CBC7500-B85B-7F32-D53F-42E28C5F0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26D925B-3215-3C37-1CEC-DA7442F4D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3413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5DDB-0130-1BE0-EE03-37CDD12A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F8BD661-F1F0-06A0-8F84-8459E08BE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16219F9-246A-FF55-63A2-DD48F7A23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62A227A-AD1B-330E-E3AB-A35B0E90C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7465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6F70-A145-E1C3-11A7-3E12887E0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415C70C-2C51-0F15-0CA2-B7D5ACF95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3860E2E-0E51-62D4-CFDC-4B53CE90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20E98E7-94AC-8BB5-CF41-E1EC2F66E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66480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37C0E-01F3-A796-FED8-EA1C29454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55F9530-8331-B618-27B3-AF658AC60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B982942-37CA-66FB-E9FB-62176C0FF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5E4A4AF-4A27-BEE9-0D54-E8F5192E1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94072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E0AC-36BD-3886-3824-F7C9BCD1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67C39ED-8CF9-DB3F-6867-F3D6C3F99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3973F1F-B1EC-1054-24A8-71DEF45EF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CC4560A-CD4C-2788-40AF-865AA1300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6608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865E-413D-6D46-DCDC-47B50088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50FBEA6-079C-491F-1E67-27A801055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4686ED8-0B42-533F-A9FC-F6E52D641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6D056E4-BB35-5091-A6E8-B457445D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252331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9FE0C-8BB2-BD0A-08D9-E86B0328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0A376F2-CC0B-E1DB-4780-DE18F5DEA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B7C14F2-DEAB-72D5-0195-1B2F7B090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EFDB4C1-1339-8BD0-BA5A-BE6B2C68D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60D90-52AD-4B65-A2C6-34EA0090F0D2}" type="slidenum">
              <a:rPr lang="el-GR" smtClean="0"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233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F72DA28-0D9F-13F5-DD80-B49E802D4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0AC42C2B-955F-ADF7-CA5F-40CB4228E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24AE049-89B3-7427-F635-15A2A6A8B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8721481-E033-E0C8-00F0-9D584571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4847F24-02AE-1630-47C5-9BD5229D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49708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D3EA6D-1930-4BB6-C0BE-D1A303D1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1A3DCA5-5F10-389D-6B08-71CCC81C0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1DA2D2A-6610-3D4D-F14F-72816231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48E6B86-D605-6285-9CD0-2590FE38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20B1FE4-2EFF-E789-FB5C-8B3A8228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0305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AEEF6B-0E6B-A798-2D9D-7895593A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FBE2113-53A3-F3EE-CE44-B39AA711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E62362C-315B-0BEB-B57A-A096488A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31165D2-24B4-47AB-8DB2-D76FFA70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98A6DBB-8F16-214C-D68B-A7978F0C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8643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56AF62E-2A00-FDFC-9860-F0FDF09F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2D3FF0-F8EE-54A5-6AAB-2CACE766C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677B77B2-26D2-EAEB-9C03-B5E5997AE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378BB1B2-753E-EA9D-0C1F-7B323266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10017CE-405E-598D-42E8-96D1F053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4B3EBE38-7C01-670A-9659-69B944B4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9539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207C4D-8881-FC62-8417-F42D6EA4D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ACD8835-E570-0B57-FC13-134CC6B3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63BE2F34-CE96-A9E9-E616-4D260AF82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B427811-D524-2C3C-B560-DA38E578D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33001E8F-7A56-0F0B-2C07-8E14254BF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D78CE8F5-72C2-8271-BD0A-4ED23D61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5CA2E3C2-0AFA-0B68-E863-70E309A0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B7E6DE8C-A2C5-2B35-ECFE-CB2A3218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2203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FDB5614-8F8C-6D4C-0125-2E6E7B42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4EA206F6-2249-B3BA-BE59-53BBABF7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7B79E91-B653-AB1C-C520-8832636D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A3FE00C-D469-3BDE-A2BA-3931A41F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6547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91EDE5CC-F046-2716-BF06-2BD1AD1F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FCA8C89B-BAD5-0FF9-0576-620EDC2F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A549979-6E34-99EA-600E-2EEBD569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6522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4F37694-E77E-AAA4-4F1C-74039C0E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913E527-45D8-DA15-21E1-25E9786A7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FC1E748C-87F5-BF72-36FD-77445BD99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ECE67839-F63A-AE39-8231-6968BD25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6FB7CDB-1200-821C-FD12-13C8E2120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490F600-8779-F221-AC83-37F59D83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8723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442E413-A8F3-98E0-1773-966A4044B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537F79EA-29B3-5125-A09C-AEBB31FD1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8794BC0C-7D59-74CA-FBE5-9FEE06A20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1C45432-466B-840E-17A2-30D60E8C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0327206-ABA5-C6A2-1FA5-E3DC3A71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461E956-32EC-2530-DB0B-82DD172B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2652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14D9401-9202-BA22-77FB-98DD5658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B5FDBB71-956B-F870-7493-3F244CC10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A363AA7-609D-E1C8-2318-98C7915D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65DD16D-89C1-E4F4-87EF-64AF590D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E371F1C-9A0D-BC20-5A44-98CB9FE5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6888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F4B33241-AC33-2089-2BBE-01B172EDE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E1851F-865B-F5A6-3C58-A5310D75C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0D8D510-F3F4-BC05-12C2-45D5AE8B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7982418-796F-5F56-CF07-7D2C08D3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08107F5-87C8-B814-9471-46991C05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60813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0F6A8A7B-A374-B850-9E3C-9033D363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A6912E8D-F068-7681-BE34-D7CCA2A36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11D01F6-5E8E-BED6-B7A9-25CDED891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A78A0-5580-479A-8D85-D943BD778D0C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590CA3C-1CE1-4811-AE0D-D777DAA6C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D5F7CBE-5614-41C5-061F-C170AD9B6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44DA4-3331-412C-9C3D-64F3191D972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011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2C8CD742-2A47-C772-19D8-CB2F90DC7EDB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 Recognition Assignment</a:t>
            </a:r>
            <a:endParaRPr lang="el-GR" sz="6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7392989E-DC46-1F93-E03C-ABFA9F49D1C5}"/>
              </a:ext>
            </a:extLst>
          </p:cNvPr>
          <p:cNvSpPr/>
          <p:nvPr/>
        </p:nvSpPr>
        <p:spPr>
          <a:xfrm>
            <a:off x="0" y="6117995"/>
            <a:ext cx="12192000" cy="74000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Associate Professor: Dionisios N. Sotiropoulos </a:t>
            </a:r>
            <a:endParaRPr lang="el-GR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6" name="Εικόνα 25" descr="Εικόνα που περιέχει κείμενο, ουρανός, αφίσα, πλοί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A30F10F8-A6C2-E5D4-5D65-9900F3FB3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t="41653" r="-4" b="14354"/>
          <a:stretch>
            <a:fillRect/>
          </a:stretch>
        </p:blipFill>
        <p:spPr>
          <a:xfrm>
            <a:off x="0" y="1147254"/>
            <a:ext cx="12192000" cy="497074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36F3F7B-9940-5012-5BD3-4967E239DD3A}"/>
              </a:ext>
            </a:extLst>
          </p:cNvPr>
          <p:cNvSpPr txBox="1"/>
          <p:nvPr/>
        </p:nvSpPr>
        <p:spPr>
          <a:xfrm>
            <a:off x="5439266" y="4914660"/>
            <a:ext cx="675273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Is The Killer? </a:t>
            </a:r>
            <a:b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Pattern Recognition and Machine Learning Investigation </a:t>
            </a:r>
            <a:endParaRPr lang="el-GR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el-G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49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098AD-58A1-FAD8-A354-9441501B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7F2685DE-2875-E2E6-A5EE-DA1B600699AB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Ομάδα</a:t>
            </a:r>
            <a:r>
              <a:rPr lang="el-GR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2254C-548D-1A67-0337-B1BD9BDEDB71}"/>
              </a:ext>
            </a:extLst>
          </p:cNvPr>
          <p:cNvSpPr txBox="1"/>
          <p:nvPr/>
        </p:nvSpPr>
        <p:spPr>
          <a:xfrm>
            <a:off x="1173018" y="2752676"/>
            <a:ext cx="98459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Αλέξιος </a:t>
            </a:r>
            <a:r>
              <a:rPr lang="el-GR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Καστανάρας</a:t>
            </a:r>
            <a:r>
              <a:rPr lang="el-G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Π22062,</a:t>
            </a:r>
          </a:p>
          <a:p>
            <a:pPr algn="ctr" fontAlgn="base"/>
            <a:r>
              <a:rPr lang="el-G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Δημήτριος </a:t>
            </a:r>
            <a:r>
              <a:rPr lang="el-GR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Λαζανάς</a:t>
            </a:r>
            <a:r>
              <a:rPr lang="el-G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Π22082,</a:t>
            </a:r>
          </a:p>
          <a:p>
            <a:pPr algn="ctr" fontAlgn="base"/>
            <a:r>
              <a:rPr lang="el-G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Δανάη </a:t>
            </a:r>
            <a:r>
              <a:rPr lang="el-GR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Χαρζάκα</a:t>
            </a:r>
            <a:r>
              <a:rPr lang="el-G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Π22194</a:t>
            </a:r>
            <a:endParaRPr lang="el-G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AE68B-7D0A-ACA4-D5C1-9EB5A405C429}"/>
              </a:ext>
            </a:extLst>
          </p:cNvPr>
          <p:cNvSpPr txBox="1"/>
          <p:nvPr/>
        </p:nvSpPr>
        <p:spPr>
          <a:xfrm>
            <a:off x="0" y="582003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Contact email for the group: </a:t>
            </a:r>
            <a:r>
              <a:rPr lang="en-US" sz="3200" b="1" dirty="0">
                <a:solidFill>
                  <a:srgbClr val="0070C0"/>
                </a:solidFill>
              </a:rPr>
              <a:t>alexioskast@gmail.com</a:t>
            </a:r>
            <a:endParaRPr lang="el-GR" sz="32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96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021C-5FF1-653E-07EC-AE16E0DDF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D6C0FDB4-C1DE-0791-77D2-8B6E1ADDB662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Pipeline</a:t>
            </a:r>
            <a:r>
              <a:rPr lang="el-G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D710CF-36EA-9CBA-4DDA-98E80B224A98}"/>
              </a:ext>
            </a:extLst>
          </p:cNvPr>
          <p:cNvSpPr txBox="1"/>
          <p:nvPr/>
        </p:nvSpPr>
        <p:spPr>
          <a:xfrm>
            <a:off x="177800" y="2136338"/>
            <a:ext cx="11836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l-G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</a:t>
            </a:r>
            <a:r>
              <a:rPr lang="el-G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Κανονικοποίηση &amp; Κωδικοποίηση χαρακτηριστικών.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(Q1-Q2):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Κατανομές, </a:t>
            </a:r>
            <a:r>
              <a:rPr lang="el-G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χωροχρονικά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μοτίβα &amp;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Generative Modeling (Q3):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Multiclass Gaussian Bayes.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Discriminative Classifiers (Q4-Q6):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Models, SVM (RBF),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Multi-Layer Perceptron.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</a:t>
            </a:r>
            <a:r>
              <a:rPr lang="el-G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el-G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el-G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(Q7-Q8):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Μείωση διαστάσεων με PCA και ομαδοποίηση με K-</a:t>
            </a:r>
            <a:r>
              <a:rPr lang="el-G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Solution: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μέσω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Ensemble.</a:t>
            </a:r>
          </a:p>
          <a:p>
            <a:pPr marL="342900" indent="-342900">
              <a:buFont typeface="+mj-lt"/>
              <a:buAutoNum type="romanLcPeriod"/>
            </a:pPr>
            <a:endParaRPr lang="el-G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9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7EACA-FCDF-64C1-669D-E4ED5E85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2D9D8CD3-241B-9541-73B4-1F06D99890EE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  <a:endParaRPr lang="el-GR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8D81CF-2155-95A9-85D3-B6C02936869E}"/>
              </a:ext>
            </a:extLst>
          </p:cNvPr>
          <p:cNvSpPr txBox="1"/>
          <p:nvPr/>
        </p:nvSpPr>
        <p:spPr>
          <a:xfrm>
            <a:off x="241300" y="2090172"/>
            <a:ext cx="11709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Πριν την εκπαίδευση των μοντέλων, τα δεδομένα υπέστησαν αυστηρή προετοιμασία για την εξασφάλιση αριθμητικής σταθερότητας.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Features</a:t>
            </a:r>
            <a:r>
              <a:rPr lang="el-G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Εφαρμογή </a:t>
            </a:r>
            <a:r>
              <a:rPr lang="el-G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Min-Max</a:t>
            </a:r>
            <a:r>
              <a:rPr lang="el-G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Scaling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(χαρτογράφηση στο διάστημα 0-1)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στην συνέχεια στρογγυλοποίηση στα 3 δεκαδικά ψηφία για μείωση του υπολογιστικού θορύβου.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Features: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Εφαρμογή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 Encoding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στα χαρακτηριστικά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weapon_code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scene_type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weather.</a:t>
            </a:r>
            <a:endParaRPr lang="el-G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54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BD98-D943-BCC6-7442-88832093B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7D885D03-4F6B-319F-09BB-20EF713731C2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Q1. Exploratory Distributions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8355FA-C29E-DA11-8622-33266FF3D022}"/>
              </a:ext>
            </a:extLst>
          </p:cNvPr>
          <p:cNvSpPr txBox="1"/>
          <p:nvPr/>
        </p:nvSpPr>
        <p:spPr>
          <a:xfrm>
            <a:off x="115957" y="1235449"/>
            <a:ext cx="72655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Διερεύνηση των 1D κατανομών για την κατανόηση των βασικών μεταβλητών του συνόλου δεδομένων.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Τοποθεσία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latitude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Οι κατανομές παρουσιάζουν συγκεντρώσεις με ελαφριά ασυμμετρία 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Skewness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0.13 και 0.22 αντίστοιχα).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Ηλικία Θύματος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Έντονη αρνητική ασυμμετρία (-0.70), υποδεικνύοντας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στοχευμένες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ηλικιακές ομάδες πολύ νέα ή πολύ ηλικιωμένα θύματα.</a:t>
            </a:r>
          </a:p>
        </p:txBody>
      </p:sp>
      <p:pic>
        <p:nvPicPr>
          <p:cNvPr id="17" name="Εικόνα 16" descr="Εικόνα που περιέχει διάγραμμα, κείμενο, γράφη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2EC6D29B-5950-4CF2-51B7-896D9136B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7" y="3354969"/>
            <a:ext cx="5545247" cy="3441150"/>
          </a:xfrm>
          <a:prstGeom prst="rect">
            <a:avLst/>
          </a:prstGeom>
        </p:spPr>
      </p:pic>
      <p:pic>
        <p:nvPicPr>
          <p:cNvPr id="19" name="Εικόνα 18" descr="Εικόνα που περιέχει κείμενο, διάγραμμα, στιγμιότυπο οθόνης, γράφη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B7A6DBB-744D-3B2B-FB1F-9F7F5A266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797" y="3303334"/>
            <a:ext cx="5545246" cy="3446982"/>
          </a:xfrm>
          <a:prstGeom prst="rect">
            <a:avLst/>
          </a:prstGeom>
        </p:spPr>
      </p:pic>
      <p:pic>
        <p:nvPicPr>
          <p:cNvPr id="21" name="Εικόνα 20" descr="Εικόνα που περιέχει κείμενο, στιγμιότυπο οθόνης, γραμμή, γράφη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4C17304-0AFE-5140-FF1E-C137D7BBD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170930"/>
            <a:ext cx="3505200" cy="217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76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417C-D80E-4D4B-0AB0-E4FD67B1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F503CF16-5557-EE96-6363-6D80B1523C68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Q1. Temporal Patterns (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hour_float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FC5F588-6215-D8E4-9335-380590B8A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Γκαουσιανής:</a:t>
            </a:r>
            <a:r>
              <a:rPr kumimoji="0" lang="el-GR" alt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πολυτροπικότητα (multimodality)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Εικόνα 7" descr="Εικόνα που περιέχει κείμενο, γραμμή, διάγραμμα, γράφη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A8BFD38-97CF-704C-421E-29BA09958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79" b="6482"/>
          <a:stretch>
            <a:fillRect/>
          </a:stretch>
        </p:blipFill>
        <p:spPr>
          <a:xfrm>
            <a:off x="2351314" y="2940111"/>
            <a:ext cx="7676606" cy="38674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EC41F2-7C71-43DA-078A-7521F0053614}"/>
              </a:ext>
            </a:extLst>
          </p:cNvPr>
          <p:cNvSpPr txBox="1"/>
          <p:nvPr/>
        </p:nvSpPr>
        <p:spPr>
          <a:xfrm>
            <a:off x="235131" y="1267212"/>
            <a:ext cx="117565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Πότε "χτυπούν" οι δολοφόνοι;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Ανεπάρκεια Απλής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Γκαουσιανής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πολυτροπικότητα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του συνόλου.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3-Component Gaussian Mixture Model (GMM):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Αναδεικνύει τρία ξεκάθαρα χρονικά 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hotspots"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εγκληματικότητας:</a:t>
            </a:r>
          </a:p>
          <a:p>
            <a:pPr marL="914400" lvl="1" indent="-457200" algn="just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1 (~12:00):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Κύρια μεσημεριανή δραστηριότητα.</a:t>
            </a:r>
          </a:p>
          <a:p>
            <a:pPr marL="914400" lvl="1" indent="-457200" algn="just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2 (~19:00):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Δραστηριότητα αργά το απόγευμα/βράδυ.</a:t>
            </a:r>
          </a:p>
          <a:p>
            <a:pPr marL="914400" lvl="1" indent="-457200" algn="just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3 (~06:00):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Σημαντική πρωινή δράση.</a:t>
            </a:r>
          </a:p>
        </p:txBody>
      </p:sp>
    </p:spTree>
    <p:extLst>
      <p:ext uri="{BB962C8B-B14F-4D97-AF65-F5344CB8AC3E}">
        <p14:creationId xmlns:p14="http://schemas.microsoft.com/office/powerpoint/2010/main" val="180698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B7A5-6FB7-7B5C-7AC4-6EF86A1D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2648F7D4-8F0C-4E96-8553-C9A8EAFB8301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Q1. 2D Spatial-Temporal Structures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D01553-F9DD-7BD2-B4D3-A9664CEEB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Γκαουσιανής:</a:t>
            </a:r>
            <a:r>
              <a:rPr kumimoji="0" lang="el-GR" alt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πολυτροπικότητα (multimodality)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Εικόνα 8" descr="Εικόνα που περιέχει στιγμιότυπο οθόνης, κείμενο, διάγραμ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9CB773F-DEF9-C7F3-3C8B-DAF7F8973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30"/>
          <a:stretch>
            <a:fillRect/>
          </a:stretch>
        </p:blipFill>
        <p:spPr>
          <a:xfrm>
            <a:off x="2233748" y="2660645"/>
            <a:ext cx="7724503" cy="41973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F84F60-D95B-0800-CA1E-77E58930C895}"/>
              </a:ext>
            </a:extLst>
          </p:cNvPr>
          <p:cNvSpPr txBox="1"/>
          <p:nvPr/>
        </p:nvSpPr>
        <p:spPr>
          <a:xfrm>
            <a:off x="828764" y="1183317"/>
            <a:ext cx="105344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2D ανάλυση αποκαλύπτει μη τετριμμένα, διακριτά μοτίβα που ορίζουν εγκληματικές "περιοχές δράσης".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Εντοπίστηκαν 3 κύριες ζώνες δράσης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Γεωγραφικό πλάτος (37.9, 38.1) / Ώρες: 00:00 - 15:00.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Γεωγραφικό πλάτος (38.1, 38.2) / Ώρες: 09:00 - 20:00.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Γεωγραφικό πλάτος (37.7, 38.0) / Ώρες: 10:00 - 23:59.</a:t>
            </a:r>
          </a:p>
        </p:txBody>
      </p:sp>
    </p:spTree>
    <p:extLst>
      <p:ext uri="{BB962C8B-B14F-4D97-AF65-F5344CB8AC3E}">
        <p14:creationId xmlns:p14="http://schemas.microsoft.com/office/powerpoint/2010/main" val="167278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71A36-0B53-A74B-20EE-E878BFFA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85244955-C752-0289-E311-3405D54A1A14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Q2. Maximum Likelihood Estimation (MLE)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81E8B82-0275-087A-1038-9078A7770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Γκαουσιανής:</a:t>
            </a:r>
            <a:r>
              <a:rPr kumimoji="0" lang="el-GR" alt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πολυτροπικότητα (multimodality)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E4ED8-FE28-7E95-2225-A1F04A0B7DFB}"/>
                  </a:ext>
                </a:extLst>
              </p:cNvPr>
              <p:cNvSpPr txBox="1"/>
              <p:nvPr/>
            </p:nvSpPr>
            <p:spPr>
              <a:xfrm>
                <a:off x="803501" y="1285668"/>
                <a:ext cx="10584997" cy="2964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Εκτίμηση Παραμέτρων: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Απομονώνοντας το TRAIN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split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υπολογίσαμε τους εκτιμητές Μέγιστης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Πιθανοφάνειας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(MLE) για: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 algn="just">
                  <a:buFont typeface="Courier New" panose="02070309020205020404" pitchFamily="49" charset="0"/>
                  <a:buChar char="o"/>
                </a:pP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Το διάνυσμα μέσης τιμής</a:t>
                </a:r>
                <a14:m>
                  <m:oMath xmlns:m="http://schemas.openxmlformats.org/officeDocument/2006/math">
                    <m:r>
                      <a:rPr lang="el-G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US" sz="24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sz="24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l-GR" sz="24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40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Τον</m:t>
                    </m:r>
                    <m:r>
                      <m:rPr>
                        <m:nor/>
                      </m:rPr>
                      <a:rPr lang="el-GR" sz="240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l-GR" sz="240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πίνακα</m:t>
                    </m:r>
                    <m:r>
                      <m:rPr>
                        <m:nor/>
                      </m:rPr>
                      <a:rPr lang="el-GR" sz="240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l-GR" sz="240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συνδιακύμανσης</m:t>
                    </m:r>
                    <m:r>
                      <m:rPr>
                        <m:nor/>
                      </m:rPr>
                      <a:rPr lang="el-GR" sz="2400" b="0" i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el-GR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l-GR" sz="24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r>
                      <m:rPr>
                        <m:nor/>
                      </m:rPr>
                      <a:rPr lang="el-GR" sz="2400" b="0" i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</m:oMath>
                </a14:m>
                <a:endParaRPr lang="el-G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Επαλήθευση: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Η υλοποίησή μας με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numpy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επαληθεύτηκε αριθμητικά ως προς τη λογαριθμική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πιθανοφάνεια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με την έτοιμη συνάρτηση της βιβλιοθήκης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scipy.stats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742950" lvl="1" indent="-285750" algn="just">
                  <a:buFont typeface="Courier New" panose="02070309020205020404" pitchFamily="49" charset="0"/>
                  <a:buChar char="o"/>
                </a:pPr>
                <a14:m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E4ED8-FE28-7E95-2225-A1F04A0B7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01" y="1285668"/>
                <a:ext cx="10584997" cy="2964529"/>
              </a:xfrm>
              <a:prstGeom prst="rect">
                <a:avLst/>
              </a:prstGeom>
              <a:blipFill>
                <a:blip r:embed="rId3"/>
                <a:stretch>
                  <a:fillRect l="-806" t="-1646" r="-1555" b="-226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010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1D67-EBA3-5E92-F2FC-ACA4CEB3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F427E710-5B7D-8CE0-4D85-B9A259B073D4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Q2. Feature Relationships per Killer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CD84D1-41DA-1FF7-172F-16FCB66E0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Γκαουσιανής:</a:t>
            </a:r>
            <a:r>
              <a:rPr kumimoji="0" lang="el-GR" alt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πολυτροπικότητα (multimodality)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8E1B4B-59CA-A341-ABBE-616498CB54E0}"/>
                  </a:ext>
                </a:extLst>
              </p:cNvPr>
              <p:cNvSpPr txBox="1"/>
              <p:nvPr/>
            </p:nvSpPr>
            <p:spPr>
              <a:xfrm>
                <a:off x="1073150" y="1174525"/>
                <a:ext cx="8907776" cy="102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l-GR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Αναλύοντας τις συσχετίσεις μεταξύ των μεταβλητών για κάθε </a:t>
                </a:r>
                <a:r>
                  <a:rPr lang="en-US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killer</a:t>
                </a:r>
                <a:r>
                  <a:rPr lang="el-GR" sz="20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sz="20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Πίνακες </a:t>
                </a:r>
                <a:r>
                  <a:rPr lang="el-GR" sz="2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Συνδιακύμανσης</a:t>
                </a:r>
                <a:r>
                  <a:rPr lang="el-GR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&amp; Συσχέτισης: </a:t>
                </a:r>
                <a:r>
                  <a:rPr lang="el-G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Υπολογίσαμε τους πίνακες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και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e>
                      <m:sub>
                        <m:r>
                          <a:rPr lang="el-GR" sz="20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</m:oMath>
                </a14:m>
                <a:r>
                  <a:rPr lang="el-G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για κάθε έναν από τους 8 δολοφόνους.</a:t>
                </a:r>
                <a14:m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8E1B4B-59CA-A341-ABBE-616498CB5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50" y="1174525"/>
                <a:ext cx="8907776" cy="1023998"/>
              </a:xfrm>
              <a:prstGeom prst="rect">
                <a:avLst/>
              </a:prstGeom>
              <a:blipFill>
                <a:blip r:embed="rId3"/>
                <a:stretch>
                  <a:fillRect l="-684" t="-3571" r="-3422" b="-10119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Εικόνα 6" descr="Εικόνα που περιέχει κείμενο, στιγμιότυπο οθόνης, διάγραμμα, παράλληλ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302BAFA-3E12-CE3B-152F-3F19CAB28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227601"/>
            <a:ext cx="4555488" cy="4630399"/>
          </a:xfrm>
          <a:prstGeom prst="rect">
            <a:avLst/>
          </a:prstGeom>
        </p:spPr>
      </p:pic>
      <p:pic>
        <p:nvPicPr>
          <p:cNvPr id="9" name="Εικόνα 8" descr="Εικόνα που περιέχει κείμενο, στιγμιότυπο οθόνης, διάγραμμα, παράλληλ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7C5531C-DF02-8865-A153-F64836EB05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229408"/>
            <a:ext cx="4555488" cy="460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12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A66E-5C6A-B0CE-B7D6-3DB96452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CCF8AD17-0E99-5D0F-445F-C7D7A431B3B1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Q2. Mapping Territories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522C10-0BF8-5E17-68E2-3354F7F9A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E0019-E554-2638-B848-25054CD4FEE1}"/>
              </a:ext>
            </a:extLst>
          </p:cNvPr>
          <p:cNvSpPr txBox="1"/>
          <p:nvPr/>
        </p:nvSpPr>
        <p:spPr>
          <a:xfrm>
            <a:off x="393699" y="1238043"/>
            <a:ext cx="11404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Διαχωρισμός μέσω αποστάσεων </a:t>
            </a:r>
            <a:r>
              <a:rPr lang="el-G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Mahalanobis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Οριοθέτηση Περιοχών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Προβάλαμε τα δεδομένα στο 2D επίπεδο </a:t>
            </a:r>
            <a:r>
              <a:rPr lang="el-G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longitude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latitude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hour_float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</a:t>
            </a:r>
            <a:r>
              <a:rPr lang="el-G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latitude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υπολογίσαμε τη μέγιστη απόσταση </a:t>
            </a:r>
            <a:r>
              <a:rPr lang="el-G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Mahalanobis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για τα περιστατικά κάθε δολοφόνου.</a:t>
            </a:r>
          </a:p>
        </p:txBody>
      </p:sp>
      <p:pic>
        <p:nvPicPr>
          <p:cNvPr id="5" name="Εικόνα 4" descr="Εικόνα που περιέχει κείμενο, διάγραμμα, κύκλος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259392E-A306-03D1-DCD4-183B41A14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387628"/>
            <a:ext cx="6096001" cy="4064001"/>
          </a:xfrm>
          <a:prstGeom prst="rect">
            <a:avLst/>
          </a:prstGeom>
        </p:spPr>
      </p:pic>
      <p:pic>
        <p:nvPicPr>
          <p:cNvPr id="10" name="Εικόνα 9" descr="Εικόνα που περιέχει κείμενο, διάγραμμα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D86DD1E-5231-46A1-CCA1-90EB1DB6C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7629"/>
            <a:ext cx="6096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8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17CE-2495-C0C9-9B45-F2EC0714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62D66B2F-6ACD-817C-DC84-6A92180123BE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Q3. </a:t>
            </a:r>
            <a:r>
              <a:rPr lang="fr-F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Multiclass</a:t>
            </a: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</a:t>
            </a: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Bayes Classifier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DC85FA-5C52-020F-5EB3-1AABC9211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Εικόνα 8" descr="Εικόνα που περιέχει κείμενο, στιγμιότυπο οθόνης, ορθογώνιο παραλληλόγραμμο, πολυχρωμ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33A74174-AEEF-E802-15E7-C716F0E03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00" y="1171058"/>
            <a:ext cx="6070600" cy="56890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2EE97B-CC33-A351-5797-26428489FBFE}"/>
                  </a:ext>
                </a:extLst>
              </p:cNvPr>
              <p:cNvSpPr txBox="1"/>
              <p:nvPr/>
            </p:nvSpPr>
            <p:spPr>
              <a:xfrm>
                <a:off x="203200" y="1238043"/>
                <a:ext cx="6070600" cy="3423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Η Μεθοδολογία: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Κατασκευάσαμε έναν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Generative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ταξινομητή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βασισμένο αποκλειστικά στα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continuous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features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Πιθανότητες (</a:t>
                </a:r>
                <a:r>
                  <a:rPr lang="el-GR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Priors</a:t>
                </a: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Η a priori πιθανότητα για κάθε δολοφόνο υπολογίστηκε βάσει της συχνότητας εμφάνισής του στο TRAIN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Κανόνας του </a:t>
                </a:r>
                <a:r>
                  <a:rPr lang="el-GR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Bayes</a:t>
                </a: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Υπολογίσαμε την a posteriori πιθανότητα χρησιμοποιώντας τις κατανομές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και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r>
                      <a:rPr lang="el-G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από το Q2.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Απόδοση (</a:t>
                </a: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Sanity &amp; Generalization):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TRAIN Accuracy: 90.14%.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 Accuracy</a:t>
                </a: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90.61%.</a:t>
                </a:r>
                <a:endParaRPr lang="el-G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2EE97B-CC33-A351-5797-26428489F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1238043"/>
                <a:ext cx="6070600" cy="3423758"/>
              </a:xfrm>
              <a:prstGeom prst="rect">
                <a:avLst/>
              </a:prstGeom>
              <a:blipFill>
                <a:blip r:embed="rId4"/>
                <a:stretch>
                  <a:fillRect l="-602" t="-890" r="-1707" b="-1779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88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504E7-132C-4DD8-4237-4CF0CBCD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E3E11268-0A3B-0C76-01FA-683548B276F4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Q3. </a:t>
            </a:r>
            <a:r>
              <a:rPr lang="fr-F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Visualising</a:t>
            </a: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Regions</a:t>
            </a: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(PCA </a:t>
            </a:r>
            <a:r>
              <a:rPr lang="fr-F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F91EF83-08CB-70B5-1E17-A7AE584A4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Εικόνα 6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ED719AD-9589-AA0E-306D-69E08CD60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953" y="1238043"/>
            <a:ext cx="6757047" cy="540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5379C9-3225-5902-6E4E-E3A198FF1445}"/>
                  </a:ext>
                </a:extLst>
              </p:cNvPr>
              <p:cNvSpPr txBox="1"/>
              <p:nvPr/>
            </p:nvSpPr>
            <p:spPr>
              <a:xfrm>
                <a:off x="203200" y="1238043"/>
                <a:ext cx="54991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Αποτυπώνοντας τα όρια απόφασης σε 2D.</a:t>
                </a:r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Η Προσέγγιση: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Εφαρμόσαμε PCA για να προβάλουμε τα 8 συνεχή χαρακτηριστικά στις 2 πρώτες κύριες συνιστώσες (PC1, PC2).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Non-Linear Boundaries: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Τα όρια απόφασης του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Bayes Classifier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είναι εξαιρετικά μη-γραμμικά και προσαρμόζονται στον πίνακα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συνδιακύμανσης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r>
                      <m:rPr>
                        <m:nor/>
                      </m:rPr>
                      <a:rPr lang="el-GR" b="0" i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της κάθε κλάσης.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5379C9-3225-5902-6E4E-E3A198FF1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1238043"/>
                <a:ext cx="5499100" cy="2308324"/>
              </a:xfrm>
              <a:prstGeom prst="rect">
                <a:avLst/>
              </a:prstGeom>
              <a:blipFill>
                <a:blip r:embed="rId4"/>
                <a:stretch>
                  <a:fillRect l="-887" t="-1319" r="-1885" b="-3694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8937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E28A-F094-A522-CF51-D9BF7F43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12C05FBD-BC81-D2D2-F750-284C442D0F70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Q4. Discriminative </a:t>
            </a:r>
            <a:r>
              <a:rPr lang="fr-F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</a:t>
            </a:r>
            <a:r>
              <a:rPr lang="fr-F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Classification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819F4B-81DE-0770-62EF-019722F16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Εικόνα 8" descr="Εικόνα που περιέχει κείμενο, στιγμιότυπο οθόνης, ορθογώνιο παραλληλόγραμμο, πολυχρωμ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3921083-2115-9551-1D3F-881582798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6" y="1228026"/>
            <a:ext cx="6010274" cy="56299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7706D1-F9B8-F068-974A-6C00CD768957}"/>
                  </a:ext>
                </a:extLst>
              </p:cNvPr>
              <p:cNvSpPr txBox="1"/>
              <p:nvPr/>
            </p:nvSpPr>
            <p:spPr>
              <a:xfrm>
                <a:off x="66676" y="1238043"/>
                <a:ext cx="6257924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Πλήρης Χώρος Χαρακτηριστικών: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Σε αντίθεση με το Q3, εδώ χρησιμοποιήσαμε το πλήρες διάνυσμα χαρακτηριστικών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en-US" i="1" dirty="0" err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ενσωματώνοντας και τα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One-Hot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Encoded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κατηγορικά δεδομένα.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Το Μοντέλο: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Χρησιμοποιήθηκε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SGDClassifier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με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logistic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loss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ρυθμισμένο σε διάταξη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One-Vs-Rest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για την </a:t>
                </a:r>
                <a:r>
                  <a:rPr lang="el-GR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πολυταξική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ταξινόμηση.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Απόδοση: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Μετά από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hyperparameter tuning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για το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L2 regularization,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η ακρίβεια στο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 split 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έφτασε το </a:t>
                </a:r>
                <a:r>
                  <a:rPr lang="el-G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92.17%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ξεπερνώντας το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Gaussian Bayes (90.61%).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7706D1-F9B8-F068-974A-6C00CD768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" y="1238043"/>
                <a:ext cx="6257924" cy="2867260"/>
              </a:xfrm>
              <a:prstGeom prst="rect">
                <a:avLst/>
              </a:prstGeom>
              <a:blipFill>
                <a:blip r:embed="rId4"/>
                <a:stretch>
                  <a:fillRect l="-682" t="-1064" r="-1461" b="-255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60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96F3-7251-E8DE-362D-6E16B539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28271AA2-7BF1-C43C-0C05-34FB36241B5D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Q4. </a:t>
            </a:r>
            <a:r>
              <a:rPr lang="en-US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Visualising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Linear vs Non-Linear Boundaries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A8682B-DD18-067A-EA1E-76E6C818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Εικόνα 4" descr="Εικόνα που περιέχει κείμενο, στιγμιότυπο οθόνης, διάγραμμα, χάρτ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6DEA29D8-11D2-FD08-C360-E6540BF33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0" y="1195916"/>
            <a:ext cx="6794500" cy="56620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9DB1BE-6F4D-A3AB-F515-E0187553C52C}"/>
              </a:ext>
            </a:extLst>
          </p:cNvPr>
          <p:cNvSpPr txBox="1"/>
          <p:nvPr/>
        </p:nvSpPr>
        <p:spPr>
          <a:xfrm>
            <a:off x="66676" y="1238043"/>
            <a:ext cx="561022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Οπτική Σύγκριση: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Προβάλαμε τα προσεγγιστικά γραμμικά όρια απόφασης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πάνω στις μη-γραμμικές περιοχές του </a:t>
            </a:r>
            <a:r>
              <a:rPr lang="el-G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στον 2D PCA χώρο.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γραμμικό μοντέλο δημιουργεί αυστηρά </a:t>
            </a:r>
            <a:r>
              <a:rPr lang="el-G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υπερεπίπεδα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αδυνατεί να σχηματίσει τις προσαρμοστικές, ελλειπτικές καμπύλες του Q3.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0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3F4D-3B2E-5855-9F80-0966A215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25E78235-ECCB-FC1D-B756-52EA6CC2FDEC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Q5. Non-Linear Classification with SVMs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A959857-FD68-E5EC-6B0C-40CAEAD03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93EF7-61C6-5132-FD5E-0A4598D0EE60}"/>
              </a:ext>
            </a:extLst>
          </p:cNvPr>
          <p:cNvSpPr txBox="1"/>
          <p:nvPr/>
        </p:nvSpPr>
        <p:spPr>
          <a:xfrm>
            <a:off x="66676" y="1238043"/>
            <a:ext cx="61150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Αντιμετωπίζοντας την πολυπλοκότητα με μη-γραμμικά όρια.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Μεθοδολογία: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Χρήση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Vector Machines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με διάταξη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One-vs-Rest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στο πλήρες διάνυσμα χαρακτηριστικών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Προαπαιτούμενο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Εφαρμογή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στα δεδομένα, καθώς τα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SVMs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είναι εξαιρετικά ευαίσθητα στην κλίμακα των χαρακτηριστικών.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Tuning: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Μέσω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ελέγχοντας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RBF kernels,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καταλήξαμε στις βέλτιστες παραμέτρους: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 = RBF, C = 10, gamma = 'scale’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Απόδοση (VAL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91.86%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Kαλύτερο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από το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(90.61%), αλλά οριακά πιο κάτω από το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(92.17%).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Εικόνα 4" descr="Εικόνα που περιέχει κείμενο, στιγμιότυπο οθόνης, ορθογώνιο παραλληλόγραμμο, πολυχρωμ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99D587A-0484-C8B2-7FFD-108A5CF0C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7724"/>
            <a:ext cx="6096000" cy="571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16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843C-799E-8C84-AFBE-E184C666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FC9124EB-46D0-B2EB-3286-AF60D7CAB00C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Q5. Decision Regions &amp; Support Vectors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4EB1A1-071D-C164-9A5F-DAA6B0F40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Εικόνα 6" descr="Εικόνα που περιέχει χάρτης, κείμεν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AA8322D-1F02-93B7-0C4D-93989E611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052" y="1238042"/>
            <a:ext cx="6743948" cy="56199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58194E-7460-91CB-FA33-98CED3F14394}"/>
              </a:ext>
            </a:extLst>
          </p:cNvPr>
          <p:cNvSpPr txBox="1"/>
          <p:nvPr/>
        </p:nvSpPr>
        <p:spPr>
          <a:xfrm>
            <a:off x="66676" y="1238043"/>
            <a:ext cx="56102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Ευελιξία Ορίων: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RBF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δημιουργεί εξαιρετικά ευέλικτα, μη-γραμμικά όρια που "αγκαλιάζουν" τις συστάδες των δεδομένων (σε αντίθεση με τις ευθείες του Q4).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γεγονός ότι το μοντέλο χρειάζεται τόσα πολλά διανύσματα υποστήριξης αποδεικνύει ότι οι κλάσεις αλληλεπικαλύπτονται σε τεράστιο βαθμό. Δεν υπάρχουν ξεκάθαρα, "καθαρά" περιθώρια μεταξύ των δολοφόνων στον 2D χώρο.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919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4083-C65B-7C40-1B98-60E32EF7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52AEB3BC-243A-ADD6-FA0E-FE86836FED7E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Q6. Multi-Layer Perceptron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39E0A7-CE85-6498-5092-A0DC66323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Εικόνα 6" descr="Εικόνα που περιέχει κείμενο, στιγμιότυπο οθόνης, ορθογώνιο παραλληλόγραμμο, πολυχρωμ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A0F97F2-8FC4-E839-18AC-A71F20582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951" y="1171711"/>
            <a:ext cx="6115050" cy="56862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B3835A-4CDB-9717-D3B2-B7C19583B343}"/>
              </a:ext>
            </a:extLst>
          </p:cNvPr>
          <p:cNvSpPr txBox="1"/>
          <p:nvPr/>
        </p:nvSpPr>
        <p:spPr>
          <a:xfrm>
            <a:off x="66676" y="1238043"/>
            <a:ext cx="60293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Σχεδιασμός Εισόδου: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Διανύσματα 24 διαστάσεων που ενσωματώνουν τόσο συνεχή όσο και κατηγορικά χαρακτηριστικά.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Δομή Κρυφών Επιπέδων: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Τρία επίπεδα με 64, 32 και 8 νευρώνες αντίστοιχα, χρησιμοποιώντας τη συνάρτηση ενεργοποίησης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Αποτροπή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Χρήση επιπέδου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με ρυθμό 0.3 μετά το πρώτο κρυφό επίπεδο.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Επίπεδο Εξόδου: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νευρώνες με συνάρτηση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για την παραγωγή των τελικών πιθανοτήτων για τον κάθε δολοφόνο.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Στρατηγική Εκπαίδευσης: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Αλγόριθμος βελτιστοποίησης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με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cross-entropy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Εφαρμογή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Stopping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(150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epochs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και δυναμική μείωση του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ReduceLROnPlateau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Κορυφαία Απόδοση: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μοντέλο πέτυχε εξαιρετική ακρίβεια και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F1-score που αγγίζουν το 95.0% στο σύνολο αξιολόγησης.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816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C739A-C746-FC03-5961-3C2CB787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7B5D571B-5C17-F137-4348-D325E8D24BA3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Q6. Decoding the "Black Box" (Feature Importance)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93D41F-9ACF-C251-D272-01EDCCD3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Εικόνα 4" descr="Εικόνα που περιέχει κείμενο, στιγμιότυπο οθόνης, διάγραμμα, γραμματοσειρά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F139224-78B4-52A3-A760-7B674B783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8" r="1262"/>
          <a:stretch>
            <a:fillRect/>
          </a:stretch>
        </p:blipFill>
        <p:spPr>
          <a:xfrm>
            <a:off x="190500" y="1226290"/>
            <a:ext cx="9931400" cy="55976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9F0778-05D2-AB55-47F4-6870BE787B52}"/>
              </a:ext>
            </a:extLst>
          </p:cNvPr>
          <p:cNvSpPr txBox="1"/>
          <p:nvPr/>
        </p:nvSpPr>
        <p:spPr>
          <a:xfrm>
            <a:off x="3505200" y="1485900"/>
            <a:ext cx="8407400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Μέθοδος: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Αξιολόγηση μέσω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Permutation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στο σύνολο επαλήθευσης (VAL).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Κρίσιμο Εύρημα: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ηλικία του θύματος αποτελεί μακράν το πιο καθοριστικό χαρακτηριστικό. Η αλλοίωσή του προκαλεί τεράστια πτώση στην ακρίβεια (~2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%), υποδηλώνοντας ότι οι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serial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killers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στοχεύουν πολύ συγκεκριμένες ηλικιακές ομάδες.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Δευτερεύοντα Χαρακτηριστικά: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χωρική εγγύτητα από αστυνομικά τμήματα 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dist_precinct_km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και τα στοιχεία της σκηνής (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scene_type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weapon_code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προσφέρουν επίσης ουσιαστική διακριτική ικανότητα στο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νευρωνικό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δίκτυο.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40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3D986-31BC-59DA-DA45-BF55F2DB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4371F4BA-33EC-9B3A-06C3-B98C14A282C5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Q7. Dimensionality Reduction with PCA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B92EA3-82B9-511A-F801-EB19CA658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D2485C-AF9D-C692-C653-450CCADE153C}"/>
              </a:ext>
            </a:extLst>
          </p:cNvPr>
          <p:cNvSpPr txBox="1"/>
          <p:nvPr/>
        </p:nvSpPr>
        <p:spPr>
          <a:xfrm>
            <a:off x="66675" y="1238043"/>
            <a:ext cx="52334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Προσέγγιση &amp; Επιλογή Μοντέλου: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Κανονικοποίηση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των συνεχών χαρακτηριστικών και χρήση των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encoded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κατηγορικών μεταβλητών. Εφαρμογή PCA αποκλειστικά στο σύνολο TRAIN για τη δημιουργία ενός "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operandi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χώρου χαμηλότερων διαστάσεων.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Πειραματικά Αποτελέσματα: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Επιλέχθηκαν m=16 κύριες συνιστώσες, καθώς επαρκούν για να εξηγήσουν το 95% της συνολικής διασποράς των δεδομένων.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Εικόνα 8" descr="Εικόνα που περιέχει κείμενο, γραμμή, γράφημα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1B8CC26F-202B-80C4-CEF7-8DB997C53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137" y="1238043"/>
            <a:ext cx="6891863" cy="516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65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2B6B-DC90-A256-6AD6-78541A7C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74AA571C-E5EA-88FD-F304-37DC51F948B9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Q7. PCA </a:t>
            </a:r>
            <a:r>
              <a:rPr lang="el-GR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</a:t>
            </a:r>
            <a:r>
              <a:rPr lang="el-GR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Projection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565FA42-9BCB-DF94-B59D-891551C6E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Εικόνα 4" descr="Εικόνα που περιέχει κείμενο, στιγμιότυπο οθόνης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DACD79A-90AA-3BFF-5175-53511F297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136" y="1238043"/>
            <a:ext cx="7030864" cy="56199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44CE02-49BD-4D13-2A33-8B5DCA9953E6}"/>
              </a:ext>
            </a:extLst>
          </p:cNvPr>
          <p:cNvSpPr txBox="1"/>
          <p:nvPr/>
        </p:nvSpPr>
        <p:spPr>
          <a:xfrm>
            <a:off x="66676" y="1238043"/>
            <a:ext cx="53816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</a:t>
            </a:r>
            <a:r>
              <a:rPr lang="el-G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Projection</a:t>
            </a: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Προβάλλοντας το VAL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στις 2 πρώτες συνιστώσες PC1 &amp; PC2 και χρωματίζοντας με βάση τις προβλέψεις του SVM, παρατηρούμε έντονη επικάλυψη στο κέντρο του χώρου. Αυτό επιβεβαιώνει ότι οι 2 διαστάσεις δεν αρκούν για τον διαχωρισμό των δραστών και εξηγεί τη δυσκολία των απλών γραμμικών μοντέλων.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420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7292-3847-3F8C-5CF7-62194054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ED6B36F8-36EB-6687-D26A-49FD5AEB4909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Q8. Unsupervised Clustering in Latent Space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EE6953-F44C-859D-8689-17E36F77D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Εικόνα 10" descr="Εικόνα που περιέχει στιγμιότυπο οθόνης, κείμενο, πολυχρωμί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E0B6393D-2EB8-F660-6EEF-2EE0D9EDE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055" y="1238044"/>
            <a:ext cx="7024945" cy="56199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C1B204-36A7-9546-5019-AE2DF81A6A4E}"/>
              </a:ext>
            </a:extLst>
          </p:cNvPr>
          <p:cNvSpPr txBox="1"/>
          <p:nvPr/>
        </p:nvSpPr>
        <p:spPr>
          <a:xfrm>
            <a:off x="66675" y="1238043"/>
            <a:ext cx="523346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Προσέγγιση &amp; Επιλογή Μοντέλου: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Μετάβαση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μάθηση. Τα δεδομένα προβλήθηκαν στον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των 16 διαστάσεων. Εφαρμογή του αλγορίθμου K-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με k=8 πάνω στο TRAIN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Η αντιστοίχιση των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στις τελικές ετικέτες έγινε μέσω πλειοψηφικής ψηφοφορίας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Πειραματικά Αποτελέσματα: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K-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πέτυχε ικανοποιητική ακρίβεια ~83.9% σε VAL και TEST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Ωστόσο, το χαμηλό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silhouette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(0.155) επιβεβαιώνει ποσοτικά την υψηλή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αλληλεπικάλυψη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των προφίλ.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Οπτικά Συμπεράσματα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γράφημα δείχνει πώς το K-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χωρίζει αυστηρά τον χώρο σε γεωμετρικές περιοχές. Επίσης, η πλειοψηφική ψηφοφορία ανέδειξε σημαντική ανισορροπία, με τον "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Killer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3" (πράσινο) να "απορροφά" τα περισσότερα </a:t>
            </a: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clusters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λόγω της υψηλής πυκνότητας δεδομένων στη συγκεκριμένη περιοχή.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51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710AD-1AF8-67CF-D10F-8530B10D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D8CE2B41-C3E2-3E28-100E-3C2DDD022A97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Submission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7AD5AA3-A174-5955-B0AC-4B9967081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9DFC92-CC6E-E3AA-02CA-A40C5B66AB5D}"/>
                  </a:ext>
                </a:extLst>
              </p:cNvPr>
              <p:cNvSpPr txBox="1"/>
              <p:nvPr/>
            </p:nvSpPr>
            <p:spPr>
              <a:xfrm>
                <a:off x="66676" y="1238043"/>
                <a:ext cx="12011024" cy="5018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l-GR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Προσέγγιση &amp; Μεθοδολογία:</a:t>
                </a:r>
                <a:endParaRPr lang="en-US" sz="2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Για τη δημιουργία του τελικού αρχείου </a:t>
                </a:r>
                <a:r>
                  <a:rPr lang="el-GR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submission.csv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επιλέχθηκε η στρατηγική του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Soft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Voting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Ensemble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Συνδυάστηκαν οι πιθανότητες από τα τρία πιο ισχυρά διακριτικά μοντέλα μας: το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Linear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Classifier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το SVM και το MLP.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Ο υπολογισμός έγινε παίρνοντας τον απλό μέσο όρο των πιθανοτήτων: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π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</m:t>
                              </m:r>
                            </m:sub>
                          </m:sSub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𝑒𝑛𝑠𝑒𝑚𝑏𝑙𝑒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m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000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m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Η τελική σκληρή ταξινόμηση για το ποιος είναι ο δολοφόνος προκύπτει επιλέγοντας την κατηγορία με την υψηλότερη μέση πιθανότητα.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Το τελικό παραγόμενο αρχείο δομήθηκε ώστε να περιλαμβάνει το 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incident_id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την τελική πρόβλεψη (</a:t>
                </a:r>
                <a:r>
                  <a:rPr lang="el-G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predicted_killer</a:t>
                </a:r>
                <a:r>
                  <a:rPr lang="el-G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και τις 8 αντίστοιχες στήλες πιθανοτήτων (p_killer_1 έως p_killer_8).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9DFC92-CC6E-E3AA-02CA-A40C5B66A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" y="1238043"/>
                <a:ext cx="12011024" cy="5018618"/>
              </a:xfrm>
              <a:prstGeom prst="rect">
                <a:avLst/>
              </a:prstGeom>
              <a:blipFill>
                <a:blip r:embed="rId3"/>
                <a:stretch>
                  <a:fillRect l="-812" t="-972" r="-1371" b="-1823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164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1AE9E-0F17-03E1-A9B3-B9E9032F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9A388537-DC7B-90A0-D5F8-E5287EE5CDCE}"/>
              </a:ext>
            </a:extLst>
          </p:cNvPr>
          <p:cNvSpPr/>
          <p:nvPr/>
        </p:nvSpPr>
        <p:spPr>
          <a:xfrm>
            <a:off x="0" y="-1"/>
            <a:ext cx="12192000" cy="11472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 Confusion Matrix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9B648D-8721-B642-9998-AE1A2820E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Ανεπάρκεια Απλής </a:t>
            </a:r>
            <a:r>
              <a:rPr kumimoji="0" lang="el-GR" altLang="el-G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Γκαουσιανής</a:t>
            </a:r>
            <a:r>
              <a:rPr kumimoji="0" lang="el-GR" altLang="el-G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Η χρήση μιας απλής κατανομής απλοποιεί υπερβολικά τα δεδομένα και αποτυγχάνει να εντοπίσει την 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πολυτροπικότητα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l-GR" altLang="el-G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multimodality</a:t>
            </a:r>
            <a:r>
              <a:rPr kumimoji="0" lang="el-GR" altLang="el-G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του συνόλου.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l-GR" altLang="el-G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42889-B1E5-A0A7-6EDB-38FD0D5F35F9}"/>
              </a:ext>
            </a:extLst>
          </p:cNvPr>
          <p:cNvSpPr txBox="1"/>
          <p:nvPr/>
        </p:nvSpPr>
        <p:spPr>
          <a:xfrm>
            <a:off x="66676" y="1238043"/>
            <a:ext cx="60293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Αποτελέσματα: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μοντέλο αξιολογήθηκε απέναντι στα συνδυασμένα σύνολα VAL και TEST.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 </a:t>
            </a:r>
            <a:r>
              <a:rPr lang="el-G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πέτυχε εξαιρετική συνολική ακρίβεια 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95.19%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σταθμισμένο F1-score 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94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l-G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97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επίδοση αυτή ξεπερνά πρακτικά το καλύτερο μεμονωμένο μοντέλο μας, το MLP.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Εικόνα 4" descr="Εικόνα που περιέχει κείμενο, στιγμιότυπο οθόνης, πολυχρωμία, ορθογώνιο παραλληλόγραμμ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4A453B4-2BB5-F11A-C894-462EB46EC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174" y="1177966"/>
            <a:ext cx="6178826" cy="568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51325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2078</Words>
  <Application>Microsoft Office PowerPoint</Application>
  <PresentationFormat>Ευρεία οθόνη</PresentationFormat>
  <Paragraphs>145</Paragraphs>
  <Slides>23</Slides>
  <Notes>23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Cambria Math</vt:lpstr>
      <vt:lpstr>Courier New</vt:lpstr>
      <vt:lpstr>Θέμα του Office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ΑΛΕΞΙΟΣ ΚΑΣΤΑΝΑΡΑΣ</dc:creator>
  <cp:lastModifiedBy>ΑΛΕΞΙΟΣ ΚΑΣΤΑΝΑΡΑΣ</cp:lastModifiedBy>
  <cp:revision>21</cp:revision>
  <dcterms:created xsi:type="dcterms:W3CDTF">2026-02-20T12:13:15Z</dcterms:created>
  <dcterms:modified xsi:type="dcterms:W3CDTF">2026-02-20T17:18:23Z</dcterms:modified>
</cp:coreProperties>
</file>